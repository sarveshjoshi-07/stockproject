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77" r:id="rId6"/>
    <p:sldId id="258" r:id="rId7"/>
    <p:sldId id="290" r:id="rId8"/>
    <p:sldId id="264" r:id="rId9"/>
    <p:sldId id="291" r:id="rId10"/>
    <p:sldId id="268" r:id="rId11"/>
    <p:sldId id="286" r:id="rId12"/>
    <p:sldId id="262" r:id="rId13"/>
    <p:sldId id="292" r:id="rId14"/>
    <p:sldId id="279" r:id="rId15"/>
    <p:sldId id="260" r:id="rId16"/>
    <p:sldId id="27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204" autoAdjust="0"/>
  </p:normalViewPr>
  <p:slideViewPr>
    <p:cSldViewPr snapToGrid="0">
      <p:cViewPr varScale="1">
        <p:scale>
          <a:sx n="77" d="100"/>
          <a:sy n="77" d="100"/>
        </p:scale>
        <p:origin x="912" y="67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5/27/2025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5/27/2025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439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613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5605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0340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26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6670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3330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0324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2914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40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12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4772" y="677918"/>
            <a:ext cx="6856292" cy="3590596"/>
          </a:xfrm>
        </p:spPr>
        <p:txBody>
          <a:bodyPr>
            <a:normAutofit/>
          </a:bodyPr>
          <a:lstStyle/>
          <a:p>
            <a:r>
              <a:rPr lang="en-US" dirty="0"/>
              <a:t>Basic presentation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2668463"/>
          </a:xfrm>
        </p:spPr>
        <p:txBody>
          <a:bodyPr>
            <a:normAutofit/>
          </a:bodyPr>
          <a:lstStyle/>
          <a:p>
            <a:r>
              <a:rPr lang="en-US" dirty="0"/>
              <a:t>Agenda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8713" y="3300413"/>
            <a:ext cx="6338887" cy="266858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Building confidence</a:t>
            </a:r>
          </a:p>
          <a:p>
            <a:r>
              <a:rPr lang="en-US" dirty="0"/>
              <a:t>Engaging the audience</a:t>
            </a:r>
          </a:p>
          <a:p>
            <a:r>
              <a:rPr lang="en-US" dirty="0"/>
              <a:t>Visual aids</a:t>
            </a:r>
          </a:p>
          <a:p>
            <a:r>
              <a:rPr lang="en-US" dirty="0"/>
              <a:t>Final tips &amp; takeaways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3694" y="660358"/>
            <a:ext cx="6594768" cy="5537284"/>
          </a:xfrm>
        </p:spPr>
        <p:txBody>
          <a:bodyPr>
            <a:normAutofit/>
          </a:bodyPr>
          <a:lstStyle/>
          <a:p>
            <a:r>
              <a:rPr lang="en-US" dirty="0"/>
              <a:t>The power of communication</a:t>
            </a:r>
          </a:p>
        </p:txBody>
      </p:sp>
      <p:pic>
        <p:nvPicPr>
          <p:cNvPr id="34" name="Picture Placeholder 33" descr="Aerial view of a neon highway intersection">
            <a:extLst>
              <a:ext uri="{FF2B5EF4-FFF2-40B4-BE49-F238E27FC236}">
                <a16:creationId xmlns:a16="http://schemas.microsoft.com/office/drawing/2014/main" id="{9289CE93-EC50-55DB-CFE0-1266AEC87B1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4936" r="24936"/>
          <a:stretch/>
        </p:blipFill>
        <p:spPr>
          <a:xfrm rot="10800000">
            <a:off x="1" y="761322"/>
            <a:ext cx="4076118" cy="6096678"/>
          </a:xfr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F466A906-2869-BB36-138E-D45F62E92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4646277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6186C3A-548E-AD87-3029-964123530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660400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3694" y="544285"/>
            <a:ext cx="6594768" cy="3445329"/>
          </a:xfrm>
        </p:spPr>
        <p:txBody>
          <a:bodyPr>
            <a:normAutofit/>
          </a:bodyPr>
          <a:lstStyle/>
          <a:p>
            <a:r>
              <a:rPr lang="en-US" dirty="0"/>
              <a:t>Overcoming nervousness​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9789" y="4130045"/>
            <a:ext cx="6594768" cy="1951523"/>
          </a:xfrm>
        </p:spPr>
        <p:txBody>
          <a:bodyPr/>
          <a:lstStyle/>
          <a:p>
            <a:r>
              <a:rPr lang="en-US" dirty="0"/>
              <a:t>Confidence-building strategies</a:t>
            </a:r>
          </a:p>
          <a:p>
            <a:endParaRPr lang="en-US" dirty="0"/>
          </a:p>
        </p:txBody>
      </p:sp>
      <p:pic>
        <p:nvPicPr>
          <p:cNvPr id="13" name="Picture Placeholder 12" descr="Low angle view of tall buildings">
            <a:extLst>
              <a:ext uri="{FF2B5EF4-FFF2-40B4-BE49-F238E27FC236}">
                <a16:creationId xmlns:a16="http://schemas.microsoft.com/office/drawing/2014/main" id="{1DFE730E-30E7-DA99-A3EE-ACB889D161E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43" r="43"/>
          <a:stretch/>
        </p:blipFill>
        <p:spPr>
          <a:xfrm>
            <a:off x="0" y="-1"/>
            <a:ext cx="4076118" cy="6096678"/>
          </a:xfrm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5F855448-57DF-E468-AF41-00CAAC2D7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5895479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52FDA21-768F-9929-E6D6-D78CD4F8E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1909602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539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896112"/>
            <a:ext cx="6589150" cy="1988706"/>
          </a:xfrm>
        </p:spPr>
        <p:txBody>
          <a:bodyPr/>
          <a:lstStyle/>
          <a:p>
            <a:r>
              <a:rPr lang="en-US" dirty="0"/>
              <a:t>Engaging the audience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62000" y="3059113"/>
            <a:ext cx="6597650" cy="32956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050D-BAF4-C23C-F8EC-24DEC429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4771" y="576943"/>
            <a:ext cx="6449786" cy="2785508"/>
          </a:xfrm>
        </p:spPr>
        <p:txBody>
          <a:bodyPr>
            <a:normAutofit/>
          </a:bodyPr>
          <a:lstStyle/>
          <a:p>
            <a:r>
              <a:rPr lang="en-US" dirty="0"/>
              <a:t>Selecting </a:t>
            </a:r>
            <a:br>
              <a:rPr lang="en-US" dirty="0"/>
            </a:br>
            <a:r>
              <a:rPr lang="en-US" dirty="0"/>
              <a:t>visual aids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4772" y="3373686"/>
            <a:ext cx="6449785" cy="1029586"/>
          </a:xfrm>
        </p:spPr>
        <p:txBody>
          <a:bodyPr/>
          <a:lstStyle/>
          <a:p>
            <a:r>
              <a:rPr lang="en-US" dirty="0"/>
              <a:t>Enhancing your presentation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8D8EF-09F7-2BAC-3EC4-6E8F40515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251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1362456"/>
          </a:xfrm>
        </p:spPr>
        <p:txBody>
          <a:bodyPr/>
          <a:lstStyle/>
          <a:p>
            <a:r>
              <a:rPr lang="en-US" dirty="0"/>
              <a:t>Effective delivery techniques​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1525" y="2590800"/>
            <a:ext cx="4514850" cy="3505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Voice modulation is a powerful tool in public speaking. It involves varying pitch, tone, and volume to convey emotion, emphasize points, and maintain interest:</a:t>
            </a:r>
          </a:p>
          <a:p>
            <a:pPr lvl="1"/>
            <a:r>
              <a:rPr lang="en-US" dirty="0"/>
              <a:t>Pitch variation​</a:t>
            </a:r>
          </a:p>
          <a:p>
            <a:pPr lvl="1"/>
            <a:r>
              <a:rPr lang="en-US" dirty="0"/>
              <a:t>Tone inflection​</a:t>
            </a:r>
          </a:p>
          <a:p>
            <a:pPr lvl="1"/>
            <a:r>
              <a:rPr lang="en-US" dirty="0"/>
              <a:t>Volume control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3F3455-E568-40C9-9F4D-8C89F4CD95F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646738" y="2590800"/>
            <a:ext cx="4514850" cy="3505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Effective body language enhances your message, making it more impactful and memorable: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0440" y="896111"/>
            <a:ext cx="7889768" cy="2039341"/>
          </a:xfrm>
        </p:spPr>
        <p:txBody>
          <a:bodyPr/>
          <a:lstStyle/>
          <a:p>
            <a:r>
              <a:rPr lang="en-US" dirty="0"/>
              <a:t>Navigating Q&amp;A sessions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251268-42B4-3B45-A59B-740E2DB97A0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/>
          <a:p>
            <a:r>
              <a:rPr lang="en-US" dirty="0"/>
              <a:t>Know your material in advance​</a:t>
            </a:r>
          </a:p>
          <a:p>
            <a:r>
              <a:rPr lang="en-US" dirty="0"/>
              <a:t>Anticipate common </a:t>
            </a:r>
            <a:br>
              <a:rPr lang="en-US" dirty="0"/>
            </a:br>
            <a:r>
              <a:rPr lang="en-US" dirty="0"/>
              <a:t>questions​</a:t>
            </a:r>
          </a:p>
          <a:p>
            <a:r>
              <a:rPr lang="en-US" dirty="0"/>
              <a:t>Rehearse your responses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2492136-277B-808E-9D1B-0527359207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/>
          <a:p>
            <a:r>
              <a:rPr lang="en-US" dirty="0"/>
              <a:t>Maintaining composure during the Q&amp;A session is essential for projecting confidence and authority. Consider the following tips for staying composed:​</a:t>
            </a:r>
          </a:p>
          <a:p>
            <a:pPr lvl="1"/>
            <a:r>
              <a:rPr lang="en-US" dirty="0"/>
              <a:t>Stay calm​</a:t>
            </a:r>
          </a:p>
          <a:p>
            <a:pPr lvl="1"/>
            <a:r>
              <a:rPr lang="en-US" dirty="0"/>
              <a:t>Actively listen​</a:t>
            </a:r>
          </a:p>
          <a:p>
            <a:pPr lvl="1"/>
            <a:r>
              <a:rPr lang="en-US" dirty="0"/>
              <a:t>Pause and reflect​</a:t>
            </a:r>
          </a:p>
          <a:p>
            <a:pPr lvl="1"/>
            <a:r>
              <a:rPr lang="en-US" dirty="0"/>
              <a:t>Maintain eye contact</a:t>
            </a:r>
          </a:p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3DE1AA4-0AE6-C6D5-E252-BBD5ED25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789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7877" y="898524"/>
            <a:ext cx="7606895" cy="2029967"/>
          </a:xfrm>
        </p:spPr>
        <p:txBody>
          <a:bodyPr/>
          <a:lstStyle/>
          <a:p>
            <a:r>
              <a:rPr lang="en-US" dirty="0"/>
              <a:t>Speaking impact​</a:t>
            </a:r>
          </a:p>
        </p:txBody>
      </p:sp>
      <p:pic>
        <p:nvPicPr>
          <p:cNvPr id="14" name="Picture Placeholder 13" descr="Woman walking in office">
            <a:extLst>
              <a:ext uri="{FF2B5EF4-FFF2-40B4-BE49-F238E27FC236}">
                <a16:creationId xmlns:a16="http://schemas.microsoft.com/office/drawing/2014/main" id="{206549BD-D8AF-D3BE-750E-5F8C50CCB5B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35913" r="35913"/>
          <a:stretch/>
        </p:blipFill>
        <p:spPr>
          <a:xfrm>
            <a:off x="1011337" y="9212"/>
            <a:ext cx="2029967" cy="4850544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441910-6501-5C60-C05A-BAFF34C25798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/>
          <a:p>
            <a:r>
              <a:rPr lang="en-US" dirty="0"/>
              <a:t>Your ability to communicate effectively will leave a lasting impact on your audience​</a:t>
            </a:r>
          </a:p>
          <a:p>
            <a:r>
              <a:rPr lang="en-US" dirty="0"/>
              <a:t>Effectively communicating involves not only delivering a message but also resonating with the experiences, values, and emotions of those listening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1C668341-39BE-4448-B29D-2594AE6D7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01853" y="2682814"/>
            <a:ext cx="274320" cy="27432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31C374B-40F2-4B1E-A9D8-6E5C932FF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2824876"/>
            <a:ext cx="2011680" cy="7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32C7587B-DD64-0940-2F6D-21C5F453F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0C883-7528-F9C5-D6FA-15EC059A3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96112"/>
            <a:ext cx="10668000" cy="1325563"/>
          </a:xfrm>
        </p:spPr>
        <p:txBody>
          <a:bodyPr/>
          <a:lstStyle/>
          <a:p>
            <a:r>
              <a:rPr lang="en-US" dirty="0"/>
              <a:t>Dynamic delivery​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7E69BA-FC91-08A5-671F-B53E6E989C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2000" y="2417197"/>
            <a:ext cx="4278313" cy="3737541"/>
          </a:xfrm>
        </p:spPr>
        <p:txBody>
          <a:bodyPr/>
          <a:lstStyle/>
          <a:p>
            <a:r>
              <a:rPr lang="en-US" dirty="0"/>
              <a:t>Learn to infuse energy into your delivery to leave a lasting impression​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8" name="Table Placeholder 7">
            <a:extLst>
              <a:ext uri="{FF2B5EF4-FFF2-40B4-BE49-F238E27FC236}">
                <a16:creationId xmlns:a16="http://schemas.microsoft.com/office/drawing/2014/main" id="{24EE9911-8AC9-5BE2-4456-0175FD28D083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3554612853"/>
              </p:ext>
            </p:extLst>
          </p:nvPr>
        </p:nvGraphicFramePr>
        <p:xfrm>
          <a:off x="5241925" y="2417763"/>
          <a:ext cx="6188076" cy="3678235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695814">
                  <a:extLst>
                    <a:ext uri="{9D8B030D-6E8A-4147-A177-3AD203B41FA5}">
                      <a16:colId xmlns:a16="http://schemas.microsoft.com/office/drawing/2014/main" val="248340271"/>
                    </a:ext>
                  </a:extLst>
                </a:gridCol>
                <a:gridCol w="2052644">
                  <a:extLst>
                    <a:ext uri="{9D8B030D-6E8A-4147-A177-3AD203B41FA5}">
                      <a16:colId xmlns:a16="http://schemas.microsoft.com/office/drawing/2014/main" val="2825265259"/>
                    </a:ext>
                  </a:extLst>
                </a:gridCol>
                <a:gridCol w="1233830">
                  <a:extLst>
                    <a:ext uri="{9D8B030D-6E8A-4147-A177-3AD203B41FA5}">
                      <a16:colId xmlns:a16="http://schemas.microsoft.com/office/drawing/2014/main" val="207959087"/>
                    </a:ext>
                  </a:extLst>
                </a:gridCol>
                <a:gridCol w="1205788">
                  <a:extLst>
                    <a:ext uri="{9D8B030D-6E8A-4147-A177-3AD203B41FA5}">
                      <a16:colId xmlns:a16="http://schemas.microsoft.com/office/drawing/2014/main" val="3104692732"/>
                    </a:ext>
                  </a:extLst>
                </a:gridCol>
              </a:tblGrid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dirty="0">
                          <a:solidFill>
                            <a:sysClr val="windowText" lastClr="000000"/>
                          </a:solidFill>
                          <a:effectLst/>
                        </a:rPr>
                        <a:t>Metric​</a:t>
                      </a:r>
                      <a:endParaRPr lang="en-US" b="1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dirty="0">
                          <a:solidFill>
                            <a:sysClr val="windowText" lastClr="000000"/>
                          </a:solidFill>
                          <a:effectLst/>
                        </a:rPr>
                        <a:t>Measurement​</a:t>
                      </a:r>
                      <a:endParaRPr lang="en-US" b="1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dirty="0">
                          <a:solidFill>
                            <a:sysClr val="windowText" lastClr="000000"/>
                          </a:solidFill>
                          <a:effectLst/>
                        </a:rPr>
                        <a:t>Target​</a:t>
                      </a:r>
                      <a:endParaRPr lang="en-US" b="1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dirty="0">
                          <a:solidFill>
                            <a:sysClr val="windowText" lastClr="000000"/>
                          </a:solidFill>
                          <a:effectLst/>
                        </a:rPr>
                        <a:t>Actual​</a:t>
                      </a:r>
                      <a:endParaRPr lang="en-US" b="1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6384421"/>
                  </a:ext>
                </a:extLst>
              </a:tr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Audience </a:t>
                      </a:r>
                      <a:b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</a:br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attendance​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# of attendees​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150​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120​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3559787"/>
                  </a:ext>
                </a:extLst>
              </a:tr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Engagement duration​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Minutes​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60​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75​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553674"/>
                  </a:ext>
                </a:extLst>
              </a:tr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Q&amp;A interaction​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# of questions​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10​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15​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1991020"/>
                  </a:ext>
                </a:extLst>
              </a:tr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Positive </a:t>
                      </a:r>
                      <a:b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</a:br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feedback​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Percentage (%)​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90​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95​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0694325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3FE259-B742-148B-88EA-EAE84226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678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5FB75C3E-5885-49DD-8190-BB1E8C511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96111"/>
            <a:ext cx="9866540" cy="1358140"/>
          </a:xfrm>
        </p:spPr>
        <p:txBody>
          <a:bodyPr>
            <a:normAutofit/>
          </a:bodyPr>
          <a:lstStyle/>
          <a:p>
            <a:r>
              <a:rPr lang="en-US" dirty="0"/>
              <a:t>Final tips &amp; takeaways​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FF2D739-E475-54F8-C832-F04A983D0F24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/>
          <a:p>
            <a:r>
              <a:rPr lang="en-US" dirty="0"/>
              <a:t>Consistent rehearsal​</a:t>
            </a:r>
          </a:p>
          <a:p>
            <a:pPr lvl="1"/>
            <a:r>
              <a:rPr lang="en-US" dirty="0"/>
              <a:t>Practice makes perfect, so strengthen your familiarity with the presentation​</a:t>
            </a:r>
          </a:p>
          <a:p>
            <a:r>
              <a:rPr lang="en-US" dirty="0"/>
              <a:t>Refine delivery style​</a:t>
            </a:r>
          </a:p>
          <a:p>
            <a:pPr lvl="1"/>
            <a:r>
              <a:rPr lang="en-US" dirty="0"/>
              <a:t>Pacing, tone, and emphasis​</a:t>
            </a:r>
          </a:p>
          <a:p>
            <a:r>
              <a:rPr lang="en-US" dirty="0"/>
              <a:t>Timing and transitions​</a:t>
            </a:r>
          </a:p>
          <a:p>
            <a:pPr lvl="1"/>
            <a:r>
              <a:rPr lang="en-US" dirty="0"/>
              <a:t>Aim for seamless, professional delivery​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feedback​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323639-65E1-FDBD-1BE3-374BB39C19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/>
          <a:p>
            <a:r>
              <a:rPr lang="en-US" dirty="0"/>
              <a:t>Seek feedback​</a:t>
            </a:r>
          </a:p>
          <a:p>
            <a:r>
              <a:rPr lang="en-US" dirty="0"/>
              <a:t>Reflect on performance​</a:t>
            </a:r>
          </a:p>
          <a:p>
            <a:r>
              <a:rPr lang="en-US" dirty="0"/>
              <a:t>Explore new techniques​</a:t>
            </a:r>
          </a:p>
          <a:p>
            <a:r>
              <a:rPr lang="en-US" dirty="0"/>
              <a:t>Set personal goals​</a:t>
            </a:r>
          </a:p>
          <a:p>
            <a:r>
              <a:rPr lang="en-US" dirty="0"/>
              <a:t>Iterate and adapt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40B739-30F9-C86F-67ED-2197DC1E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466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1B29E87-9C2C-400B-834D-4E4BD6E94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155" y="896112"/>
            <a:ext cx="10665845" cy="1325563"/>
          </a:xfrm>
        </p:spPr>
        <p:txBody>
          <a:bodyPr/>
          <a:lstStyle/>
          <a:p>
            <a:r>
              <a:rPr lang="en-US" dirty="0"/>
              <a:t>Speaking engagement metrics​</a:t>
            </a:r>
          </a:p>
        </p:txBody>
      </p:sp>
      <p:graphicFrame>
        <p:nvGraphicFramePr>
          <p:cNvPr id="14" name="Table Placeholder 13">
            <a:extLst>
              <a:ext uri="{FF2B5EF4-FFF2-40B4-BE49-F238E27FC236}">
                <a16:creationId xmlns:a16="http://schemas.microsoft.com/office/drawing/2014/main" id="{597B3320-3330-1F17-5E4B-B24CAB0A4487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734130339"/>
              </p:ext>
            </p:extLst>
          </p:nvPr>
        </p:nvGraphicFramePr>
        <p:xfrm>
          <a:off x="762000" y="2417763"/>
          <a:ext cx="10666412" cy="3678235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444221">
                  <a:extLst>
                    <a:ext uri="{9D8B030D-6E8A-4147-A177-3AD203B41FA5}">
                      <a16:colId xmlns:a16="http://schemas.microsoft.com/office/drawing/2014/main" val="4239035621"/>
                    </a:ext>
                  </a:extLst>
                </a:gridCol>
                <a:gridCol w="3253189">
                  <a:extLst>
                    <a:ext uri="{9D8B030D-6E8A-4147-A177-3AD203B41FA5}">
                      <a16:colId xmlns:a16="http://schemas.microsoft.com/office/drawing/2014/main" val="1645754944"/>
                    </a:ext>
                  </a:extLst>
                </a:gridCol>
                <a:gridCol w="2005852">
                  <a:extLst>
                    <a:ext uri="{9D8B030D-6E8A-4147-A177-3AD203B41FA5}">
                      <a16:colId xmlns:a16="http://schemas.microsoft.com/office/drawing/2014/main" val="4278473568"/>
                    </a:ext>
                  </a:extLst>
                </a:gridCol>
                <a:gridCol w="1963150">
                  <a:extLst>
                    <a:ext uri="{9D8B030D-6E8A-4147-A177-3AD203B41FA5}">
                      <a16:colId xmlns:a16="http://schemas.microsoft.com/office/drawing/2014/main" val="760742182"/>
                    </a:ext>
                  </a:extLst>
                </a:gridCol>
              </a:tblGrid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Impact factor​</a:t>
                      </a:r>
                      <a:endParaRPr lang="en-US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Measurement​</a:t>
                      </a:r>
                      <a:endParaRPr lang="en-US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Target​</a:t>
                      </a:r>
                      <a:endParaRPr lang="en-US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Achieved​</a:t>
                      </a:r>
                      <a:endParaRPr lang="en-US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889321"/>
                  </a:ext>
                </a:extLst>
              </a:tr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Audience interaction​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Percentage (%)​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85​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88​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2437685"/>
                  </a:ext>
                </a:extLst>
              </a:tr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</a:rPr>
                        <a:t>Knowledge retention​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</a:rPr>
                        <a:t>Percentage (%)​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</a:rPr>
                        <a:t>75​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</a:rPr>
                        <a:t>80​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3294875"/>
                  </a:ext>
                </a:extLst>
              </a:tr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</a:rPr>
                        <a:t>Post-presentation surveys​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</a:rPr>
                        <a:t>Average rating​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</a:rPr>
                        <a:t>4.2​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</a:rPr>
                        <a:t>4.5​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6715685"/>
                  </a:ext>
                </a:extLst>
              </a:tr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</a:rPr>
                        <a:t>Referral rate​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</a:rPr>
                        <a:t>Percentage (%)​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</a:rPr>
                        <a:t>10​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</a:rPr>
                        <a:t>12​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3074674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0EB401-2F91-2D90-C859-96484861E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997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245" y="544285"/>
            <a:ext cx="5528217" cy="2685383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6340" y="3423773"/>
            <a:ext cx="5528217" cy="2029969"/>
          </a:xfrm>
        </p:spPr>
        <p:txBody>
          <a:bodyPr bIns="0">
            <a:normAutofit lnSpcReduction="10000"/>
          </a:bodyPr>
          <a:lstStyle/>
          <a:p>
            <a:r>
              <a:rPr lang="en-US" dirty="0"/>
              <a:t>Brita Tamm​</a:t>
            </a:r>
          </a:p>
          <a:p>
            <a:r>
              <a:rPr lang="en-US" dirty="0"/>
              <a:t>502-555-0152​</a:t>
            </a:r>
          </a:p>
          <a:p>
            <a:r>
              <a:rPr lang="en-US" dirty="0"/>
              <a:t>brita@firstupconsultants.com​</a:t>
            </a:r>
          </a:p>
          <a:p>
            <a:r>
              <a:rPr lang="en-US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Colorful abstract pitch deck</Template>
  <TotalTime>1</TotalTime>
  <Words>499</Words>
  <Application>Microsoft Office PowerPoint</Application>
  <PresentationFormat>Widescreen</PresentationFormat>
  <Paragraphs>124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Avenir Next LT Pro</vt:lpstr>
      <vt:lpstr>Calibri</vt:lpstr>
      <vt:lpstr>Custom</vt:lpstr>
      <vt:lpstr>Basic presentation</vt:lpstr>
      <vt:lpstr>Agenda</vt:lpstr>
      <vt:lpstr>The power of communication</vt:lpstr>
      <vt:lpstr>Overcoming nervousness​</vt:lpstr>
      <vt:lpstr>Engaging the audience</vt:lpstr>
      <vt:lpstr>Selecting  visual aids</vt:lpstr>
      <vt:lpstr>Effective delivery techniques​</vt:lpstr>
      <vt:lpstr>Navigating Q&amp;A sessions</vt:lpstr>
      <vt:lpstr>Speaking impact​</vt:lpstr>
      <vt:lpstr>Dynamic delivery​</vt:lpstr>
      <vt:lpstr>Final tips &amp; takeaways​</vt:lpstr>
      <vt:lpstr>Speaking engagement metrics​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Pratik Gundecha</dc:creator>
  <cp:lastModifiedBy>Pratik Gundecha</cp:lastModifiedBy>
  <cp:revision>1</cp:revision>
  <dcterms:created xsi:type="dcterms:W3CDTF">2025-05-27T02:48:14Z</dcterms:created>
  <dcterms:modified xsi:type="dcterms:W3CDTF">2025-05-27T02:49:22Z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