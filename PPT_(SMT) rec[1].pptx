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7" r:id="rId6"/>
    <p:sldId id="258" r:id="rId7"/>
    <p:sldId id="290" r:id="rId8"/>
    <p:sldId id="264" r:id="rId9"/>
    <p:sldId id="295" r:id="rId10"/>
    <p:sldId id="268" r:id="rId11"/>
    <p:sldId id="294" r:id="rId12"/>
    <p:sldId id="296" r:id="rId13"/>
    <p:sldId id="297" r:id="rId14"/>
    <p:sldId id="292" r:id="rId15"/>
    <p:sldId id="293" r:id="rId16"/>
    <p:sldId id="279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E71F11-F187-4A98-8D15-13F8832E3FD8}" v="3" dt="2025-05-27T16:48:42.517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1A709-FB68-8A82-EC19-C36905828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0797C-FBDB-6C78-1F78-6EF66D20E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EFE21-FA3C-A144-1E1C-A5FC632A6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6277C-BB34-4257-30D5-809F022B02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151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EB0F-4827-29D3-E16E-F58FCCB8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98A20-5B79-61D0-FDBE-E0E366992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2703E-37BB-9F36-127A-3725F89AA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1D9A3-9F29-494B-3633-E29F729BD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095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797CC-3FF5-C7EB-9B85-006BE94D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C69E2-227B-4169-8721-08F6EE959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F7728-2A38-41D2-F76D-5F7D2F963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F32AF-7C6D-1207-339E-AD5845147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739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3372" y="1453170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STOCK</a:t>
            </a:r>
            <a:r>
              <a:rPr lang="en-US" dirty="0"/>
              <a:t> MARKET </a:t>
            </a:r>
            <a:br>
              <a:rPr lang="en-US" dirty="0"/>
            </a:br>
            <a:r>
              <a:rPr lang="en-US" dirty="0"/>
              <a:t>Tracker</a:t>
            </a:r>
            <a:br>
              <a:rPr lang="en-US" dirty="0"/>
            </a:br>
            <a:r>
              <a:rPr lang="en-US" sz="2800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An API based stock price tracker.</a:t>
            </a:r>
            <a:endParaRPr lang="en-US" sz="2800" b="0" dirty="0">
              <a:solidFill>
                <a:schemeClr val="accent2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BDC25-A135-3986-702D-081B97A83533}"/>
              </a:ext>
            </a:extLst>
          </p:cNvPr>
          <p:cNvSpPr txBox="1"/>
          <p:nvPr/>
        </p:nvSpPr>
        <p:spPr>
          <a:xfrm>
            <a:off x="4943372" y="1222337"/>
            <a:ext cx="7248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Nutan College of Engineering and Research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2169A-F2DE-F4EC-3CE0-4718988F92FE}"/>
              </a:ext>
            </a:extLst>
          </p:cNvPr>
          <p:cNvSpPr txBox="1"/>
          <p:nvPr/>
        </p:nvSpPr>
        <p:spPr>
          <a:xfrm>
            <a:off x="8368748" y="6321287"/>
            <a:ext cx="3607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 </a:t>
            </a:r>
            <a:r>
              <a:rPr lang="en-IN" b="1" dirty="0"/>
              <a:t>Team Brokers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307" y="-822870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857070" y="1736897"/>
            <a:ext cx="6338887" cy="45148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Technology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 Interface Preview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Real World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Future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4091" y="767238"/>
            <a:ext cx="6594768" cy="969659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F3890D75-1A57-12D2-80CA-6A9E76DBB080}"/>
              </a:ext>
            </a:extLst>
          </p:cNvPr>
          <p:cNvSpPr txBox="1">
            <a:spLocks/>
          </p:cNvSpPr>
          <p:nvPr/>
        </p:nvSpPr>
        <p:spPr>
          <a:xfrm>
            <a:off x="4857070" y="1736897"/>
            <a:ext cx="6338887" cy="451481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4239353-C450-5648-CF33-BD25B8CB7829}"/>
              </a:ext>
            </a:extLst>
          </p:cNvPr>
          <p:cNvSpPr txBox="1">
            <a:spLocks/>
          </p:cNvSpPr>
          <p:nvPr/>
        </p:nvSpPr>
        <p:spPr>
          <a:xfrm>
            <a:off x="4182795" y="1855305"/>
            <a:ext cx="7593347" cy="500269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today’s fast-paced financial world, understanding the stock market can be overwhelming for beginners.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Our project- Stock Market Tracker — is designed to simplify the journey into investing.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With a clean interface and simulated trading features, we aim to make stock market tracking both accessible and informative for new users.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500" y="1128873"/>
            <a:ext cx="6594768" cy="997936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20CA99C3-B737-B17E-F81C-E5F62D9DB3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13331" y="2126809"/>
            <a:ext cx="7549759" cy="2799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solidFill>
                  <a:schemeClr val="tx1"/>
                </a:solidFill>
              </a:rPr>
              <a:t>Simplify</a:t>
            </a:r>
            <a:r>
              <a:rPr lang="en-US" altLang="en-US" dirty="0">
                <a:solidFill>
                  <a:schemeClr val="tx1"/>
                </a:solidFill>
              </a:rPr>
              <a:t> the process of tracking stock prices</a:t>
            </a:r>
          </a:p>
          <a:p>
            <a:pPr marL="342900" marR="0" lvl="0" indent="-342900" fontAlgn="base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solidFill>
                  <a:schemeClr val="tx1"/>
                </a:solidFill>
              </a:rPr>
              <a:t>Educate</a:t>
            </a:r>
            <a:r>
              <a:rPr lang="en-US" altLang="en-US" dirty="0">
                <a:solidFill>
                  <a:schemeClr val="tx1"/>
                </a:solidFill>
              </a:rPr>
              <a:t> users about basic stock market concepts</a:t>
            </a:r>
          </a:p>
          <a:p>
            <a:pPr marL="342900" marR="0" lvl="0" indent="-342900" fontAlgn="base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</a:rPr>
              <a:t>Provide an </a:t>
            </a:r>
            <a:r>
              <a:rPr lang="en-US" altLang="en-US" b="1" dirty="0">
                <a:solidFill>
                  <a:schemeClr val="tx1"/>
                </a:solidFill>
              </a:rPr>
              <a:t>intuitive interface </a:t>
            </a:r>
            <a:r>
              <a:rPr lang="en-US" altLang="en-US" dirty="0">
                <a:solidFill>
                  <a:schemeClr val="tx1"/>
                </a:solidFill>
              </a:rPr>
              <a:t>for beginners</a:t>
            </a:r>
          </a:p>
          <a:p>
            <a:pPr marL="342900" marR="0" lvl="0" indent="-342900" fontAlgn="base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solidFill>
                  <a:schemeClr val="tx1"/>
                </a:solidFill>
              </a:rPr>
              <a:t>Encourage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financial literacy </a:t>
            </a:r>
            <a:r>
              <a:rPr lang="en-US" altLang="en-US" dirty="0">
                <a:solidFill>
                  <a:schemeClr val="tx1"/>
                </a:solidFill>
              </a:rPr>
              <a:t>among students and</a:t>
            </a:r>
          </a:p>
          <a:p>
            <a:pPr marR="0" lvl="0" fontAlgn="base">
              <a:spcAft>
                <a:spcPts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</a:rPr>
              <a:t>     first-time investors</a:t>
            </a:r>
          </a:p>
        </p:txBody>
      </p: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81245D-DAB0-315B-CA20-D996D7F82019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483705" y="1416698"/>
            <a:ext cx="7787838" cy="4461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</a:rPr>
              <a:t>Frontend</a:t>
            </a:r>
            <a:r>
              <a:rPr lang="en-US" altLang="en-US" sz="2400" dirty="0">
                <a:solidFill>
                  <a:schemeClr val="tx1"/>
                </a:solidFill>
              </a:rPr>
              <a:t>: HTML, CSS, JavaScript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</a:rPr>
              <a:t>Backend</a:t>
            </a:r>
            <a:r>
              <a:rPr lang="en-US" altLang="en-US" sz="2400" dirty="0">
                <a:solidFill>
                  <a:schemeClr val="tx1"/>
                </a:solidFill>
              </a:rPr>
              <a:t>: API integration (Financial data from static </a:t>
            </a:r>
          </a:p>
          <a:p>
            <a:pPr marR="0" lvl="0" fontAlgn="base">
              <a:lnSpc>
                <a:spcPct val="150000"/>
              </a:lnSpc>
              <a:spcAft>
                <a:spcPts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</a:rPr>
              <a:t>    or demo sources) , chart.js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b="1" dirty="0">
                <a:solidFill>
                  <a:schemeClr val="tx1"/>
                </a:solidFill>
              </a:rPr>
              <a:t>Styling Theme</a:t>
            </a:r>
            <a:r>
              <a:rPr lang="en-US" sz="2400" dirty="0">
                <a:solidFill>
                  <a:schemeClr val="tx1"/>
                </a:solidFill>
              </a:rPr>
              <a:t>: Inspired by real stock market </a:t>
            </a:r>
          </a:p>
          <a:p>
            <a:pPr marR="0" lvl="0" fontAlgn="base">
              <a:lnSpc>
                <a:spcPct val="150000"/>
              </a:lnSpc>
              <a:spcAft>
                <a:spcPts val="0"/>
              </a:spcAft>
              <a:buClrTx/>
              <a:buSzTx/>
              <a:tabLst/>
            </a:pPr>
            <a:r>
              <a:rPr lang="en-US" sz="2400" dirty="0">
                <a:solidFill>
                  <a:schemeClr val="tx1"/>
                </a:solidFill>
              </a:rPr>
              <a:t>    dashboards (</a:t>
            </a:r>
            <a:r>
              <a:rPr lang="en-US" sz="2400" dirty="0" err="1">
                <a:solidFill>
                  <a:schemeClr val="tx1"/>
                </a:solidFill>
              </a:rPr>
              <a:t>groww</a:t>
            </a:r>
            <a:r>
              <a:rPr lang="en-US" sz="2400" dirty="0">
                <a:solidFill>
                  <a:schemeClr val="tx1"/>
                </a:solidFill>
              </a:rPr>
              <a:t>).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</a:rPr>
              <a:t>APIs</a:t>
            </a:r>
            <a:r>
              <a:rPr lang="en-US" altLang="en-US" sz="2400" dirty="0">
                <a:solidFill>
                  <a:schemeClr val="tx1"/>
                </a:solidFill>
              </a:rPr>
              <a:t>: multiple finance APIs along with the data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b="1" dirty="0">
                <a:solidFill>
                  <a:schemeClr val="tx1"/>
                </a:solidFill>
              </a:rPr>
              <a:t>Tools Used</a:t>
            </a:r>
            <a:r>
              <a:rPr lang="en-US" sz="2400" dirty="0">
                <a:solidFill>
                  <a:schemeClr val="tx1"/>
                </a:solidFill>
              </a:rPr>
              <a:t>: VS Code, GitHub, web browser for </a:t>
            </a:r>
          </a:p>
          <a:p>
            <a:pPr marR="0" lvl="0" fontAlgn="base">
              <a:lnSpc>
                <a:spcPct val="150000"/>
              </a:lnSpc>
              <a:spcAft>
                <a:spcPts val="0"/>
              </a:spcAft>
              <a:buClrTx/>
              <a:buSzTx/>
              <a:tabLst/>
            </a:pPr>
            <a:r>
              <a:rPr lang="en-US" sz="2400" dirty="0">
                <a:solidFill>
                  <a:schemeClr val="tx1"/>
                </a:solidFill>
              </a:rPr>
              <a:t>    testing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4EFD-1D6C-8C90-4801-FFCBC1C0C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A355-9040-74AF-2597-0C34797C1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307" y="-822870"/>
            <a:ext cx="6343650" cy="2668463"/>
          </a:xfrm>
        </p:spPr>
        <p:txBody>
          <a:bodyPr>
            <a:normAutofit/>
          </a:bodyPr>
          <a:lstStyle/>
          <a:p>
            <a:r>
              <a:rPr lang="en-ZA" dirty="0"/>
              <a:t>Key Features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38D1-D3BA-6EA3-4BBE-A94ECA41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CE5B5D-530C-CA63-93F9-AD3D2E0B6BB6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4857750" y="2470656"/>
            <a:ext cx="68803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/>
              <a:t>Real-Time Data</a:t>
            </a:r>
            <a:r>
              <a:rPr lang="en-US" altLang="en-US" dirty="0"/>
              <a:t>: Live stock prices and metrics via financial APIs.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/>
              <a:t>Global Markets</a:t>
            </a:r>
            <a:r>
              <a:rPr lang="en-US" altLang="en-US" dirty="0"/>
              <a:t>: Track stocks from US and Indian markets.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/>
              <a:t>Quick Search</a:t>
            </a:r>
            <a:r>
              <a:rPr lang="en-US" altLang="en-US" dirty="0"/>
              <a:t>: Instantly find stock data with simple 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/>
              <a:t>Responsive Design</a:t>
            </a:r>
            <a:r>
              <a:rPr lang="en-US" altLang="en-US" dirty="0"/>
              <a:t>: Works smoothly on all screen sizes.</a:t>
            </a:r>
          </a:p>
        </p:txBody>
      </p:sp>
    </p:spTree>
    <p:extLst>
      <p:ext uri="{BB962C8B-B14F-4D97-AF65-F5344CB8AC3E}">
        <p14:creationId xmlns:p14="http://schemas.microsoft.com/office/powerpoint/2010/main" val="3974508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13" y="217500"/>
            <a:ext cx="9389288" cy="1362456"/>
          </a:xfrm>
        </p:spPr>
        <p:txBody>
          <a:bodyPr/>
          <a:lstStyle/>
          <a:p>
            <a:r>
              <a:rPr lang="en-US" dirty="0"/>
              <a:t>USER Interface Preview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9EBA2-5D73-61E6-AEF9-9A7E4C668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205" y="944481"/>
            <a:ext cx="8615548" cy="583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106C-3DB0-0986-1FDC-C08F17E4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83E28-F8F2-4B24-8400-119E65100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0FC9F-4724-1379-6A0A-C56BA110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B29A4B-9CA3-807D-5957-003BE54D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36" y="326605"/>
            <a:ext cx="9092309" cy="59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7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1C163-9B8B-47D6-1B99-486205B0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91B317-98F5-3CDC-5814-9E8F34D18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6B08506-B3BC-0B67-C351-B3FFED7A0FC8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817743" y="396816"/>
            <a:ext cx="9545667" cy="5916970"/>
          </a:xfrm>
        </p:spPr>
      </p:pic>
    </p:spTree>
    <p:extLst>
      <p:ext uri="{BB962C8B-B14F-4D97-AF65-F5344CB8AC3E}">
        <p14:creationId xmlns:p14="http://schemas.microsoft.com/office/powerpoint/2010/main" val="3173897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365F7-05AC-1F24-E32F-CEBA63CD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A7FF2-651B-5B29-EEE0-CD03C4CD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19B083-945A-9738-C567-BBF7491580B5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879309" y="373063"/>
            <a:ext cx="9174141" cy="6111874"/>
          </a:xfrm>
        </p:spPr>
      </p:pic>
    </p:spTree>
    <p:extLst>
      <p:ext uri="{BB962C8B-B14F-4D97-AF65-F5344CB8AC3E}">
        <p14:creationId xmlns:p14="http://schemas.microsoft.com/office/powerpoint/2010/main" val="75971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REAL WORLD APPLICATION​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FC74036-FC77-80F6-074E-464470BE7881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762000" y="2430588"/>
            <a:ext cx="993265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/>
              <a:t>Beginner Tool</a:t>
            </a:r>
            <a:r>
              <a:rPr lang="en-US" altLang="en-US" sz="2400" dirty="0"/>
              <a:t>: Perfect starting point before using real trading apps.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/>
              <a:t>Educational Value</a:t>
            </a:r>
            <a:r>
              <a:rPr lang="en-US" altLang="en-US" sz="2400" dirty="0"/>
              <a:t>: Ideal for students and finance workshops.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/>
              <a:t>Community Learning</a:t>
            </a:r>
            <a:r>
              <a:rPr lang="en-US" altLang="en-US" sz="2400" dirty="0"/>
              <a:t>: Can be used in peer groups or college clubs.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/>
              <a:t>Classroom Use</a:t>
            </a:r>
            <a:r>
              <a:rPr lang="en-US" altLang="en-US" sz="2400" dirty="0"/>
              <a:t>: Helpful for practical sessions in finance courses.</a:t>
            </a:r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4EA33-871D-2405-8203-58D93C193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A0EB54-37BD-EEF1-0DFE-EA2B7EA5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0F1EA-0C71-FF25-C0A6-06E78AB4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79F9ED6-0229-0FBE-B429-3E406084C9A3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71736" y="2129722"/>
            <a:ext cx="8801512" cy="3353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Real-Time API Integration</a:t>
            </a:r>
            <a:r>
              <a:rPr lang="en-US" altLang="en-US" sz="2400" dirty="0"/>
              <a:t>: Add live stock market data.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User Accounts</a:t>
            </a:r>
            <a:r>
              <a:rPr lang="en-US" altLang="en-US" sz="2400" dirty="0"/>
              <a:t>: Personalized portfolios with login/signup.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Mobile App</a:t>
            </a:r>
            <a:r>
              <a:rPr lang="en-US" altLang="en-US" sz="2400" dirty="0"/>
              <a:t>: Expand to Android/iOS platforms.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Gamified Learning</a:t>
            </a:r>
            <a:r>
              <a:rPr lang="en-US" altLang="en-US" sz="2400" dirty="0"/>
              <a:t>: Quizzes and rewards for engagement.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IPO &amp; Small-Cap Tracking</a:t>
            </a:r>
            <a:r>
              <a:rPr lang="en-US" altLang="en-US" sz="2400" dirty="0"/>
              <a:t>: Broaden investment insights.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Google Sheets Sync</a:t>
            </a:r>
            <a:r>
              <a:rPr lang="en-US" altLang="en-US" sz="2400" dirty="0"/>
              <a:t>: Export data for custom analysis</a:t>
            </a:r>
          </a:p>
        </p:txBody>
      </p:sp>
    </p:spTree>
    <p:extLst>
      <p:ext uri="{BB962C8B-B14F-4D97-AF65-F5344CB8AC3E}">
        <p14:creationId xmlns:p14="http://schemas.microsoft.com/office/powerpoint/2010/main" val="2816551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4" y="2114192"/>
            <a:ext cx="9062416" cy="363583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Stock Price Tracker project goes beyond just displaying market data — it introduces beginners to the world of investing in a simplified, engaging, and educational way.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its intuitive design, key features tailored for new users, and potential for future enhancements, the platform lays a strong foundation for financial literacy and informed decision-making.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we continue to evolve it with real-time data, personalization, and mobile accessibility, this project has the potential to become a valuable tool for aspiring investors and learners everywhere.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2792" y="156783"/>
            <a:ext cx="5926927" cy="351217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Colorful abstract pitch deck</Template>
  <TotalTime>300</TotalTime>
  <Words>464</Words>
  <Application>Microsoft Office PowerPoint</Application>
  <PresentationFormat>Widescreen</PresentationFormat>
  <Paragraphs>79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Avenir Next LT Pro</vt:lpstr>
      <vt:lpstr>Bahnschrift SemiBold Condensed</vt:lpstr>
      <vt:lpstr>Calibri</vt:lpstr>
      <vt:lpstr>Wingdings</vt:lpstr>
      <vt:lpstr>Custom</vt:lpstr>
      <vt:lpstr>STOCK MARKET  Tracker An API based stock price tracker.</vt:lpstr>
      <vt:lpstr>Agenda</vt:lpstr>
      <vt:lpstr>Introduction</vt:lpstr>
      <vt:lpstr>Objectives</vt:lpstr>
      <vt:lpstr>Technology Stack</vt:lpstr>
      <vt:lpstr>Key Features</vt:lpstr>
      <vt:lpstr>USER Interface Preview</vt:lpstr>
      <vt:lpstr>PowerPoint Presentation</vt:lpstr>
      <vt:lpstr>PowerPoint Presentation</vt:lpstr>
      <vt:lpstr>PowerPoint Presentation</vt:lpstr>
      <vt:lpstr>REAL WORLD APPLICATION​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Gundecha</dc:creator>
  <cp:lastModifiedBy>Pratik Gundecha</cp:lastModifiedBy>
  <cp:revision>6</cp:revision>
  <dcterms:created xsi:type="dcterms:W3CDTF">2025-05-27T02:48:14Z</dcterms:created>
  <dcterms:modified xsi:type="dcterms:W3CDTF">2025-05-28T02:18:17Z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